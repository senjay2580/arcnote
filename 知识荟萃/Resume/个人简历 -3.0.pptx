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版权归senjay所有" id="{D2717A76-E87D-4B62-A5A5-ABF3951A7BBE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091" userDrawn="1">
          <p15:clr>
            <a:srgbClr val="A4A3A4"/>
          </p15:clr>
        </p15:guide>
        <p15:guide id="2" pos="2110" userDrawn="1">
          <p15:clr>
            <a:srgbClr val="A4A3A4"/>
          </p15:clr>
        </p15:guide>
        <p15:guide id="3" pos="4203" userDrawn="1">
          <p15:clr>
            <a:srgbClr val="A4A3A4"/>
          </p15:clr>
        </p15:guide>
        <p15:guide id="4" pos="1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189" autoAdjust="0"/>
    <p:restoredTop sz="94660"/>
  </p:normalViewPr>
  <p:slideViewPr>
    <p:cSldViewPr showGuides="1">
      <p:cViewPr>
        <p:scale>
          <a:sx n="125" d="100"/>
          <a:sy n="125" d="100"/>
        </p:scale>
        <p:origin x="1176" y="-2992"/>
      </p:cViewPr>
      <p:guideLst>
        <p:guide orient="horz" pos="3091"/>
        <p:guide pos="2110"/>
        <p:guide pos="4203"/>
        <p:guide pos="1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735" y="1143000"/>
            <a:ext cx="213653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/>
          <p:cNvSpPr>
            <a:spLocks noGrp="1"/>
          </p:cNvSpPr>
          <p:nvPr>
            <p:ph type="pic" sz="quarter" idx="10"/>
          </p:nvPr>
        </p:nvSpPr>
        <p:spPr>
          <a:xfrm>
            <a:off x="5084763" y="0"/>
            <a:ext cx="1152525" cy="1208088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hyperlink" Target="https://github.com/senjay2580/ArcHat-server&#13;" TargetMode="Externa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/>
          <p:cNvGrpSpPr/>
          <p:nvPr/>
        </p:nvGrpSpPr>
        <p:grpSpPr>
          <a:xfrm>
            <a:off x="90696" y="1188303"/>
            <a:ext cx="6471811" cy="282499"/>
            <a:chOff x="142771" y="2118888"/>
            <a:chExt cx="6454581" cy="253916"/>
          </a:xfrm>
        </p:grpSpPr>
        <p:sp>
          <p:nvSpPr>
            <p:cNvPr id="7" name="文本框 6"/>
            <p:cNvSpPr txBox="1"/>
            <p:nvPr/>
          </p:nvSpPr>
          <p:spPr>
            <a:xfrm>
              <a:off x="142771" y="2118888"/>
              <a:ext cx="116006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50" b="1" dirty="0">
                  <a:solidFill>
                    <a:schemeClr val="accent2"/>
                  </a:solidFill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教育背景</a:t>
              </a:r>
              <a:endParaRPr lang="zh-CN" altLang="en-US" sz="1050" b="1" dirty="0">
                <a:solidFill>
                  <a:schemeClr val="accent2"/>
                </a:solidFill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endParaRPr>
            </a:p>
          </p:txBody>
        </p:sp>
        <p:grpSp>
          <p:nvGrpSpPr>
            <p:cNvPr id="32" name="组合 31"/>
            <p:cNvGrpSpPr/>
            <p:nvPr/>
          </p:nvGrpSpPr>
          <p:grpSpPr>
            <a:xfrm>
              <a:off x="240568" y="2360712"/>
              <a:ext cx="6356784" cy="0"/>
              <a:chOff x="240568" y="2432720"/>
              <a:chExt cx="6356784" cy="0"/>
            </a:xfrm>
          </p:grpSpPr>
          <p:cxnSp>
            <p:nvCxnSpPr>
              <p:cNvPr id="29" name="直接连接符 28"/>
              <p:cNvCxnSpPr/>
              <p:nvPr/>
            </p:nvCxnSpPr>
            <p:spPr>
              <a:xfrm>
                <a:off x="260648" y="2432720"/>
                <a:ext cx="633670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连接符 30"/>
              <p:cNvCxnSpPr/>
              <p:nvPr/>
            </p:nvCxnSpPr>
            <p:spPr>
              <a:xfrm>
                <a:off x="240568" y="2432720"/>
                <a:ext cx="1016044" cy="0"/>
              </a:xfrm>
              <a:prstGeom prst="line">
                <a:avLst/>
              </a:prstGeom>
              <a:ln w="41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0" name="组合 69"/>
          <p:cNvGrpSpPr/>
          <p:nvPr/>
        </p:nvGrpSpPr>
        <p:grpSpPr>
          <a:xfrm>
            <a:off x="44450" y="37251"/>
            <a:ext cx="3556000" cy="982980"/>
            <a:chOff x="59075" y="289036"/>
            <a:chExt cx="3556000" cy="982980"/>
          </a:xfrm>
        </p:grpSpPr>
        <p:sp>
          <p:nvSpPr>
            <p:cNvPr id="5" name="文本框 4"/>
            <p:cNvSpPr txBox="1"/>
            <p:nvPr/>
          </p:nvSpPr>
          <p:spPr>
            <a:xfrm>
              <a:off x="59075" y="630666"/>
              <a:ext cx="3556000" cy="64135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000" dirty="0">
                  <a:solidFill>
                    <a:schemeClr val="accent6">
                      <a:lumMod val="50000"/>
                    </a:schemeClr>
                  </a:solidFill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 </a:t>
              </a:r>
              <a:r>
                <a:rPr lang="en-US" altLang="zh-CN" sz="1000" dirty="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 </a:t>
              </a:r>
              <a:r>
                <a:rPr lang="en-US" altLang="zh-CN" sz="1000" b="1" dirty="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2005-06-21</a:t>
              </a:r>
              <a:endParaRPr lang="en-US" altLang="zh-CN" sz="10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  <a:p>
              <a:endParaRPr lang="en-US" altLang="zh-CN" sz="1000" dirty="0">
                <a:solidFill>
                  <a:schemeClr val="accent6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  <a:p>
              <a:r>
                <a:rPr lang="zh-CN" altLang="en-US" sz="1000" dirty="0">
                  <a:solidFill>
                    <a:schemeClr val="accent6">
                      <a:lumMod val="50000"/>
                    </a:schemeClr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 </a:t>
              </a:r>
              <a:r>
                <a:rPr lang="en-US" altLang="zh-CN" sz="1000" dirty="0">
                  <a:solidFill>
                    <a:schemeClr val="accent6">
                      <a:lumMod val="50000"/>
                    </a:schemeClr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    </a:t>
              </a:r>
              <a:r>
                <a:rPr lang="en-US" altLang="zh-CN" sz="1000" b="1" dirty="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3381335358@qq.com  </a:t>
              </a:r>
              <a:r>
                <a:rPr lang="zh-CN" altLang="en-US" sz="1000" b="1" dirty="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📞</a:t>
              </a:r>
              <a:r>
                <a:rPr lang="en-US" altLang="zh-CN" sz="1000" b="1" dirty="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 18750767579</a:t>
              </a:r>
              <a:endParaRPr lang="en-US" altLang="zh-CN" sz="10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  <a:p>
              <a:endParaRPr lang="zh-CN" altLang="en-US" sz="10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  <a:p>
              <a:r>
                <a:rPr lang="en-US" altLang="zh-CN" sz="1000" dirty="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     </a:t>
              </a:r>
              <a:r>
                <a:rPr lang="en-US" altLang="zh-CN" sz="1000" b="1" dirty="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wwwsj21</a:t>
              </a:r>
              <a:endParaRPr lang="en-US" altLang="zh-CN" sz="10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93936" y="289036"/>
              <a:ext cx="1160060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latin typeface="华文宋体" panose="02010600040101010101" pitchFamily="2" charset="-122"/>
                  <a:ea typeface="华文宋体" panose="02010600040101010101" pitchFamily="2" charset="-122"/>
                  <a:cs typeface="阿里巴巴普惠体 M" panose="00020600040101010101" pitchFamily="18" charset="-122"/>
                </a:rPr>
                <a:t>  </a:t>
              </a:r>
              <a:r>
                <a:rPr lang="zh-CN" altLang="en-US" sz="1600" b="1" dirty="0">
                  <a:latin typeface="华文宋体" panose="02010600040101010101" pitchFamily="2" charset="-122"/>
                  <a:ea typeface="华文宋体" panose="02010600040101010101" pitchFamily="2" charset="-122"/>
                  <a:cs typeface="阿里巴巴普惠体 M" panose="00020600040101010101" pitchFamily="18" charset="-122"/>
                </a:rPr>
                <a:t>吴生杰</a:t>
              </a:r>
              <a:endParaRPr lang="zh-CN" altLang="en-US" sz="1600" b="1" dirty="0">
                <a:latin typeface="华文宋体" panose="02010600040101010101" pitchFamily="2" charset="-122"/>
                <a:ea typeface="华文宋体" panose="02010600040101010101" pitchFamily="2" charset="-122"/>
                <a:cs typeface="阿里巴巴普惠体 M" panose="00020600040101010101" pitchFamily="18" charset="-122"/>
              </a:endParaRPr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49860" y="1480030"/>
            <a:ext cx="1330458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2023-09-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至今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783318" y="1498843"/>
            <a:ext cx="1261884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福建农林大学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5310128" y="1486070"/>
            <a:ext cx="131318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专业:软件工程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48481" y="1633404"/>
            <a:ext cx="6471811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专业成绩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: 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GPA:3.4/4.0(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专业前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10%)</a:t>
            </a:r>
            <a:endParaRPr lang="en-US" altLang="zh-CN" sz="800" b="1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主修课程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: </a:t>
            </a: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数据结构、软件项目管理、操作系统、计算机网络、</a:t>
            </a:r>
            <a:r>
              <a:rPr lang="en-US" altLang="zh-CN" sz="800" dirty="0" err="1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JavaWeb</a:t>
            </a: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应用开发、数据库系统概论、软件工程导论、企业级框架开发</a:t>
            </a:r>
            <a:endParaRPr lang="en-US" altLang="zh-CN" sz="800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个人荣誉：英语四级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（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536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分）</a:t>
            </a: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、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六级证书（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494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分）、</a:t>
            </a: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蓝桥杯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省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二等奖</a:t>
            </a:r>
            <a:endParaRPr lang="en-US" altLang="zh-CN" sz="800" b="1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519" y="12358"/>
            <a:ext cx="861876" cy="1208295"/>
          </a:xfrm>
          <a:prstGeom prst="rect">
            <a:avLst/>
          </a:prstGeom>
        </p:spPr>
      </p:pic>
      <p:grpSp>
        <p:nvGrpSpPr>
          <p:cNvPr id="62" name="组合 61"/>
          <p:cNvGrpSpPr/>
          <p:nvPr/>
        </p:nvGrpSpPr>
        <p:grpSpPr>
          <a:xfrm>
            <a:off x="90805" y="2287905"/>
            <a:ext cx="6407785" cy="275590"/>
            <a:chOff x="172266" y="5624643"/>
            <a:chExt cx="6425086" cy="273929"/>
          </a:xfrm>
        </p:grpSpPr>
        <p:sp>
          <p:nvSpPr>
            <p:cNvPr id="63" name="文本框 62"/>
            <p:cNvSpPr txBox="1"/>
            <p:nvPr/>
          </p:nvSpPr>
          <p:spPr>
            <a:xfrm>
              <a:off x="172266" y="5624643"/>
              <a:ext cx="1160060" cy="2739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实习经历</a:t>
              </a:r>
              <a:endParaRPr lang="zh-CN" altLang="en-US" sz="1200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endParaRPr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260648" y="5889104"/>
              <a:ext cx="6336704" cy="0"/>
              <a:chOff x="260648" y="2432720"/>
              <a:chExt cx="6336704" cy="0"/>
            </a:xfrm>
          </p:grpSpPr>
          <p:cxnSp>
            <p:nvCxnSpPr>
              <p:cNvPr id="65" name="直接连接符 64"/>
              <p:cNvCxnSpPr/>
              <p:nvPr/>
            </p:nvCxnSpPr>
            <p:spPr>
              <a:xfrm>
                <a:off x="260648" y="2432720"/>
                <a:ext cx="633670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接连接符 65"/>
              <p:cNvCxnSpPr/>
              <p:nvPr/>
            </p:nvCxnSpPr>
            <p:spPr>
              <a:xfrm>
                <a:off x="260648" y="2432720"/>
                <a:ext cx="1016044" cy="0"/>
              </a:xfrm>
              <a:prstGeom prst="line">
                <a:avLst/>
              </a:prstGeom>
              <a:ln w="41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9" name="组合 98"/>
          <p:cNvGrpSpPr/>
          <p:nvPr/>
        </p:nvGrpSpPr>
        <p:grpSpPr>
          <a:xfrm>
            <a:off x="47516" y="4233145"/>
            <a:ext cx="6437151" cy="275590"/>
            <a:chOff x="160201" y="5643058"/>
            <a:chExt cx="6437151" cy="275590"/>
          </a:xfrm>
        </p:grpSpPr>
        <p:sp>
          <p:nvSpPr>
            <p:cNvPr id="100" name="文本框 99"/>
            <p:cNvSpPr txBox="1"/>
            <p:nvPr/>
          </p:nvSpPr>
          <p:spPr>
            <a:xfrm>
              <a:off x="160201" y="5643058"/>
              <a:ext cx="116006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项目经历</a:t>
              </a:r>
              <a:endParaRPr lang="zh-CN" altLang="en-US" sz="1050" b="1" dirty="0">
                <a:solidFill>
                  <a:schemeClr val="accent2"/>
                </a:solidFill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endParaRPr>
            </a:p>
          </p:txBody>
        </p:sp>
        <p:grpSp>
          <p:nvGrpSpPr>
            <p:cNvPr id="101" name="组合 100"/>
            <p:cNvGrpSpPr/>
            <p:nvPr/>
          </p:nvGrpSpPr>
          <p:grpSpPr>
            <a:xfrm>
              <a:off x="260648" y="5889104"/>
              <a:ext cx="6336704" cy="0"/>
              <a:chOff x="260648" y="2432720"/>
              <a:chExt cx="6336704" cy="0"/>
            </a:xfrm>
          </p:grpSpPr>
          <p:cxnSp>
            <p:nvCxnSpPr>
              <p:cNvPr id="102" name="直接连接符 101"/>
              <p:cNvCxnSpPr/>
              <p:nvPr/>
            </p:nvCxnSpPr>
            <p:spPr>
              <a:xfrm>
                <a:off x="260648" y="2432720"/>
                <a:ext cx="633670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接连接符 102"/>
              <p:cNvCxnSpPr/>
              <p:nvPr/>
            </p:nvCxnSpPr>
            <p:spPr>
              <a:xfrm>
                <a:off x="260648" y="2432720"/>
                <a:ext cx="1016044" cy="0"/>
              </a:xfrm>
              <a:prstGeom prst="line">
                <a:avLst/>
              </a:prstGeom>
              <a:ln w="41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4" name="文本框 103"/>
          <p:cNvSpPr txBox="1"/>
          <p:nvPr/>
        </p:nvSpPr>
        <p:spPr>
          <a:xfrm>
            <a:off x="4610626" y="6404610"/>
            <a:ext cx="2072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zh-CN" altLang="en-US" sz="1400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-201237" y="6404610"/>
            <a:ext cx="16466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zh-CN" altLang="en-US" sz="1400" b="1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</p:txBody>
      </p:sp>
      <p:sp>
        <p:nvSpPr>
          <p:cNvPr id="106" name="文本框 105"/>
          <p:cNvSpPr txBox="1"/>
          <p:nvPr/>
        </p:nvSpPr>
        <p:spPr>
          <a:xfrm>
            <a:off x="79375" y="7617460"/>
            <a:ext cx="6591300" cy="2040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520"/>
              </a:lnSpc>
            </a:pP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2024/9 – 2025/1</a:t>
            </a:r>
            <a:endParaRPr lang="en-US" altLang="zh-CN" sz="800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b="1" dirty="0" err="1">
                <a:ea typeface="阿里巴巴普惠体 M" panose="00020600040101010101"/>
              </a:rPr>
              <a:t>ArcLearn</a:t>
            </a:r>
            <a:r>
              <a:rPr lang="en-US" altLang="zh-CN" sz="800" b="1" dirty="0">
                <a:ea typeface="阿里巴巴普惠体 M" panose="00020600040101010101"/>
              </a:rPr>
              <a:t> </a:t>
            </a:r>
            <a:r>
              <a:rPr lang="zh-CN" altLang="en-US" sz="800" b="1" dirty="0">
                <a:ea typeface="阿里巴巴普惠体 M" panose="00020600040101010101"/>
              </a:rPr>
              <a:t>社区</a:t>
            </a:r>
            <a:r>
              <a:rPr lang="en-US" altLang="zh-CN" sz="800" b="1" dirty="0">
                <a:ea typeface="阿里巴巴普惠体 M" panose="00020600040101010101"/>
              </a:rPr>
              <a:t>—</a:t>
            </a:r>
            <a:r>
              <a:rPr lang="zh-CN" altLang="en-US" sz="800" b="1" dirty="0">
                <a:ea typeface="阿里巴巴普惠体 M" panose="00020600040101010101"/>
              </a:rPr>
              <a:t>后端开发</a:t>
            </a:r>
            <a:endParaRPr lang="en-US" altLang="zh-CN" sz="800" b="1" dirty="0">
              <a:ea typeface="阿里巴巴普惠体 M" panose="00020600040101010101"/>
            </a:endParaRPr>
          </a:p>
          <a:p>
            <a:pPr algn="l">
              <a:lnSpc>
                <a:spcPts val="1520"/>
              </a:lnSpc>
              <a:buClrTx/>
              <a:buSzTx/>
              <a:buNone/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项目描述: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一款面向开发者的技术交流平台，支持Markdown 富文本文章的发布、评论互动、用户签到、行为统计等功能，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520"/>
              </a:lnSpc>
              <a:buClrTx/>
              <a:buSzTx/>
              <a:buNone/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核心技术: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SpringBoot , MyBatis , Redis, RabbitMQ, JWT, Nginx,阿里云Oss, Vue3,ElementUl Plus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520"/>
              </a:lnSpc>
              <a:buClrTx/>
              <a:buSzTx/>
              <a:buNone/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核心职责: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 algn="l">
              <a:lnSpc>
                <a:spcPts val="1520"/>
              </a:lnSpc>
              <a:buClrTx/>
              <a:buSzTx/>
              <a:buNone/>
            </a:pP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异步解耦：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构建基于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RabbitMQ 的事件驱动架构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，将文章发布、评论提醒、系统通知等任务异步化，提高系统响应速度与可扩展性。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 algn="l">
              <a:lnSpc>
                <a:spcPts val="1520"/>
              </a:lnSpc>
              <a:buClrTx/>
              <a:buSzTx/>
              <a:buNone/>
            </a:pP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缓存优化：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使用 Redis 缓存热点数据，结合布隆过滤器与互斥锁，有效防止缓存击穿/穿透问题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 algn="l">
              <a:lnSpc>
                <a:spcPts val="1520"/>
              </a:lnSpc>
              <a:buClrTx/>
              <a:buSzTx/>
              <a:buNone/>
            </a:pP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架构设计：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基于SpringBoot+MyBatis实现高效数据持久化，利用AOP 切面编程统一日志采集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 algn="l">
              <a:lnSpc>
                <a:spcPts val="1520"/>
              </a:lnSpc>
              <a:buClrTx/>
              <a:buSzTx/>
              <a:buNone/>
            </a:pP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安全认证: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JWT无状态令牌实现鉴权,优化用户体验并保障接口安全。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 algn="l">
              <a:lnSpc>
                <a:spcPts val="1520"/>
              </a:lnSpc>
              <a:buClrTx/>
              <a:buSzTx/>
              <a:buNone/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用户统计：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利用 HyperLogLog 统计独立访客（UV），结合Bitmap 记录用户签到行为，实现社区活跃度分析与数据可视化。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44450" y="4395950"/>
            <a:ext cx="6627945" cy="3014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20"/>
              </a:lnSpc>
            </a:pP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2025/5 – 2025/8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  <a:sym typeface="+mn-ea"/>
              </a:rPr>
              <a:t>				</a:t>
            </a:r>
            <a:endParaRPr lang="en-US" altLang="zh-CN" sz="800" b="1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  <a:sym typeface="+mn-ea"/>
            </a:endParaRPr>
          </a:p>
          <a:p>
            <a:pPr>
              <a:lnSpc>
                <a:spcPts val="1520"/>
              </a:lnSpc>
            </a:pP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  <a:sym typeface="+mn-ea"/>
              </a:rPr>
              <a:t>     </a:t>
            </a:r>
            <a:endParaRPr lang="en-US" altLang="zh-CN" sz="800" b="1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  <a:sym typeface="+mn-ea"/>
            </a:endParaRPr>
          </a:p>
          <a:p>
            <a:pPr>
              <a:lnSpc>
                <a:spcPts val="1520"/>
              </a:lnSpc>
            </a:pPr>
            <a:endParaRPr lang="en-US" altLang="zh-CN" sz="800" b="1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ArcHat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通讯协作平台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--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前后端开发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						</a:t>
            </a:r>
            <a:endParaRPr lang="en-US" altLang="zh-CN" sz="800" b="1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项目描述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: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一款仿飞书的企业级通讯与协作平台，集私聊、群聊与安全权限管理于一体，支持接口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多维限流、敏感词过滤、会话管理、消息实时推送、语音通话、以及智能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AI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助手，旨在提升团队沟通效率与协作体验。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核心技术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: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SpringBoot3, </a:t>
            </a:r>
            <a:r>
              <a:rPr lang="en-US" altLang="zh-CN" sz="8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MyBatis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Plus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Netty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WebRTC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RabbitMQ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Docker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Nginx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Redis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JWT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langchain4j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核心职责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:</a:t>
            </a:r>
            <a:endParaRPr lang="en-US" altLang="zh-CN" sz="800" b="1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消息推送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/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处理：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基于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Netty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构建长连接服务，支持私聊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/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群聊消息的实时分发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。抽象消息处理器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基类，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结合 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Spring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容器注册机制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，支持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多种消息类型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（文本、图片、文件）动态分发与处理，利用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策略模式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实现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高可扩展性。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AI Chat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集成：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使用 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Langchain4j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，集成到项目中开发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AI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助手，实现多轮对话，记忆持久化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,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会话隔离，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RAG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知识库导入。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性能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/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安全：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基于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事件驱动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与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敏感词过滤机制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，实现群聊消息的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异步入库与推送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，确保内容合规同时显著提升接口性能。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限流控制：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自定义注解实现高复用，结合 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AOP + </a:t>
            </a:r>
            <a:r>
              <a:rPr lang="en-US" altLang="zh-CN" sz="800" b="1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SpEL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表达式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，实现接口级限流防刷功能，支持用户、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IP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、接口维度灵活限流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lang="en-US" altLang="zh-CN" sz="800" b="1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日志记录：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使用 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MDC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日志上下文机制，通过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Filter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统一生成 </a:t>
            </a:r>
            <a:r>
              <a:rPr lang="en-US" altLang="zh-CN" sz="8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traceId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，并结合 </a:t>
            </a:r>
            <a:r>
              <a:rPr lang="en-US" altLang="zh-CN" sz="8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ThreadLocal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MDC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注入线程上下文，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520"/>
              </a:lnSpc>
            </a:pP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实现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全链路日志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自动携带 </a:t>
            </a:r>
            <a:r>
              <a:rPr lang="en-US" altLang="zh-CN" sz="8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traceId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进行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追踪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cxnSp>
        <p:nvCxnSpPr>
          <p:cNvPr id="108" name="直接连接符 107"/>
          <p:cNvCxnSpPr/>
          <p:nvPr/>
        </p:nvCxnSpPr>
        <p:spPr>
          <a:xfrm>
            <a:off x="135263" y="7689332"/>
            <a:ext cx="6427236" cy="0"/>
          </a:xfrm>
          <a:prstGeom prst="line">
            <a:avLst/>
          </a:prstGeom>
          <a:ln w="9525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IcBaselineWech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50" y="1040765"/>
            <a:ext cx="147320" cy="147320"/>
          </a:xfrm>
          <a:prstGeom prst="rect">
            <a:avLst/>
          </a:prstGeom>
        </p:spPr>
      </p:pic>
      <p:pic>
        <p:nvPicPr>
          <p:cNvPr id="4" name="图片 3" descr="MaterialSymbolsAttachEma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50" y="731520"/>
            <a:ext cx="143510" cy="143510"/>
          </a:xfrm>
          <a:prstGeom prst="rect">
            <a:avLst/>
          </a:prstGeom>
        </p:spPr>
      </p:pic>
      <p:pic>
        <p:nvPicPr>
          <p:cNvPr id="6" name="图片 5" descr="MdiGithu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10" y="4808855"/>
            <a:ext cx="196850" cy="19685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07670" y="4808855"/>
            <a:ext cx="3650615" cy="19685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项目地址：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hlinkClick r:id="rId5" action="ppaction://hlinkfile"/>
              </a:rPr>
              <a:t>https://github.com/senjay2580/ArcHat-server</a:t>
            </a:r>
            <a:endParaRPr lang="en-US" altLang="zh-CN" sz="800" b="1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hlinkClick r:id="rId5" action="ppaction://hlinkfile"/>
            </a:endParaRPr>
          </a:p>
          <a:p>
            <a:pPr algn="l"/>
            <a:endParaRPr lang="en-US" altLang="zh-CN" sz="800" b="1" dirty="0">
              <a:solidFill>
                <a:schemeClr val="accent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79375" y="2545715"/>
            <a:ext cx="6296025" cy="2635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lvl="4" algn="l">
              <a:lnSpc>
                <a:spcPct val="150000"/>
              </a:lnSpc>
              <a:buClrTx/>
              <a:buSzTx/>
              <a:buFontTx/>
            </a:pP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  <a:sym typeface="+mn-ea"/>
              </a:rPr>
              <a:t>福州琢木鸟信息科技有限公司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  <a:sym typeface="+mn-ea"/>
              </a:rPr>
              <a:t>			    </a:t>
            </a:r>
            <a:r>
              <a:rPr lang="zh-CN" altLang="en-US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  <a:sym typeface="+mn-ea"/>
              </a:rPr>
              <a:t>2025/7 – 2025/9				    后端开发</a:t>
            </a:r>
            <a:endParaRPr lang="zh-CN" altLang="en-US" sz="1400" dirty="0" smtClean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9375" y="2799715"/>
            <a:ext cx="6064250" cy="1374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800" b="1" dirty="0" smtClean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主要职责：</a:t>
            </a:r>
            <a:endParaRPr lang="zh-CN" altLang="en-US" sz="800" b="1" dirty="0" smtClean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  <a:p>
            <a:pPr indent="457200" algn="l"/>
            <a:endParaRPr lang="zh-CN" altLang="en-US" sz="800" b="1" dirty="0" smtClean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文本框 12"/>
          <p:cNvSpPr txBox="1"/>
          <p:nvPr/>
        </p:nvSpPr>
        <p:spPr>
          <a:xfrm>
            <a:off x="149225" y="734060"/>
            <a:ext cx="6807200" cy="13868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ts val="188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协作能力：了解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从需求分析到上线运维的完整项目生命周期，具备跨部门沟通与协同推进能力。</a:t>
            </a:r>
            <a:endParaRPr lang="en-US" altLang="zh-CN" sz="800" b="1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algn="l">
              <a:lnSpc>
                <a:spcPts val="1880"/>
              </a:lnSpc>
            </a:pP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AI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应用：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有使用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lanchain4j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将大模型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集成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到项目中的经验，熟练使用各种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AI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工具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, MCP server,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工作流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,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编写优质提示词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提高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效率。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algn="l">
              <a:lnSpc>
                <a:spcPts val="188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分布式与中间件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：了解 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Spring Cloud (</a:t>
            </a:r>
            <a:r>
              <a:rPr lang="en-US" altLang="zh-CN" sz="800" b="1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Nacos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Feign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Gateway)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RabbitMQ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sz="800" b="1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kafka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Docker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等技术栈。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88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项目部署：熟练</a:t>
            </a:r>
            <a:r>
              <a:rPr lang="en-US" altLang="zh-CN" sz="8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GitFlow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以及分支管理、基本命令，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掌握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Linux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常用命令，具备云服务器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/docker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部署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经验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88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前端开发：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熟悉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HTML5/CSS3/Js/Ts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，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熟练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使用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 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Vue2/3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React18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Element Plus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以及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AI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编程工具进行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组件化开发，具备独立实现设计稿的能力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880"/>
              </a:lnSpc>
            </a:pP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Java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基础：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扎实的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Java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面向对象编程能力，熟练掌握集合、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IO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Stream API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>
              <a:lnSpc>
                <a:spcPts val="188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数据库：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熟练使用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MySQL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，掌握事务、索引及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SQL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性能优化；熟悉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Redis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缓存机制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与常见问题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（穿透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/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击穿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/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雪崩）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解决方案。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88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主流框架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：熟悉 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Spring Boot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Spring MVC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800" b="1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MyBatis</a:t>
            </a:r>
            <a:r>
              <a:rPr lang="en-US" altLang="zh-CN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Plus </a:t>
            </a: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具备工程化技术。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880"/>
              </a:lnSpc>
            </a:pPr>
            <a:r>
              <a: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计算机基础：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掌握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TCP/IP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HTTP/HTTPS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WebSocket 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等协议，了解进程线程、并发控制等操作系统知识。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ts val="1880"/>
              </a:lnSpc>
            </a:pPr>
            <a:endParaRPr lang="en-US" altLang="zh-CN" sz="800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  <a:p>
            <a:pPr algn="l">
              <a:lnSpc>
                <a:spcPts val="1880"/>
              </a:lnSpc>
              <a:buClrTx/>
              <a:buSzTx/>
              <a:buNone/>
            </a:pPr>
            <a:endParaRPr lang="zh-CN" altLang="en-US" sz="800" b="1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</p:txBody>
      </p:sp>
      <p:grpSp>
        <p:nvGrpSpPr>
          <p:cNvPr id="62" name="组合 61"/>
          <p:cNvGrpSpPr/>
          <p:nvPr/>
        </p:nvGrpSpPr>
        <p:grpSpPr>
          <a:xfrm>
            <a:off x="116840" y="416560"/>
            <a:ext cx="6407785" cy="275590"/>
            <a:chOff x="172266" y="5624643"/>
            <a:chExt cx="6425086" cy="273929"/>
          </a:xfrm>
        </p:grpSpPr>
        <p:sp>
          <p:nvSpPr>
            <p:cNvPr id="63" name="文本框 62"/>
            <p:cNvSpPr txBox="1"/>
            <p:nvPr/>
          </p:nvSpPr>
          <p:spPr>
            <a:xfrm>
              <a:off x="172266" y="5624643"/>
              <a:ext cx="1160060" cy="2739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专业技能</a:t>
              </a:r>
              <a:endParaRPr lang="zh-CN" altLang="en-US" sz="1200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endParaRPr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260648" y="5889104"/>
              <a:ext cx="6336704" cy="0"/>
              <a:chOff x="260648" y="2432720"/>
              <a:chExt cx="6336704" cy="0"/>
            </a:xfrm>
          </p:grpSpPr>
          <p:cxnSp>
            <p:nvCxnSpPr>
              <p:cNvPr id="65" name="直接连接符 64"/>
              <p:cNvCxnSpPr/>
              <p:nvPr/>
            </p:nvCxnSpPr>
            <p:spPr>
              <a:xfrm>
                <a:off x="260648" y="2432720"/>
                <a:ext cx="633670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接连接符 65"/>
              <p:cNvCxnSpPr/>
              <p:nvPr/>
            </p:nvCxnSpPr>
            <p:spPr>
              <a:xfrm>
                <a:off x="260648" y="2432720"/>
                <a:ext cx="1016044" cy="0"/>
              </a:xfrm>
              <a:prstGeom prst="line">
                <a:avLst/>
              </a:prstGeom>
              <a:ln w="41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组合 13"/>
          <p:cNvGrpSpPr/>
          <p:nvPr/>
        </p:nvGrpSpPr>
        <p:grpSpPr>
          <a:xfrm>
            <a:off x="180975" y="3332479"/>
            <a:ext cx="6375400" cy="259716"/>
            <a:chOff x="204738" y="5630954"/>
            <a:chExt cx="6392614" cy="258150"/>
          </a:xfrm>
        </p:grpSpPr>
        <p:sp>
          <p:nvSpPr>
            <p:cNvPr id="15" name="文本框 14"/>
            <p:cNvSpPr txBox="1"/>
            <p:nvPr/>
          </p:nvSpPr>
          <p:spPr>
            <a:xfrm>
              <a:off x="204738" y="5630954"/>
              <a:ext cx="1160060" cy="2512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50" b="1" dirty="0">
                  <a:solidFill>
                    <a:schemeClr val="accent2"/>
                  </a:solidFill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自我</a:t>
              </a:r>
              <a:r>
                <a:rPr lang="zh-CN" altLang="en-US" sz="1050" b="1" dirty="0">
                  <a:solidFill>
                    <a:schemeClr val="accent2"/>
                  </a:solidFill>
                  <a:latin typeface="阿里巴巴普惠体 R" panose="00020600040101010101" pitchFamily="18" charset="-122"/>
                  <a:ea typeface="阿里巴巴普惠体 R" panose="00020600040101010101" pitchFamily="18" charset="-122"/>
                  <a:cs typeface="阿里巴巴普惠体 R" panose="00020600040101010101" pitchFamily="18" charset="-122"/>
                </a:rPr>
                <a:t>评价</a:t>
              </a:r>
              <a:endParaRPr lang="zh-CN" altLang="en-US" sz="1050" b="1" dirty="0">
                <a:solidFill>
                  <a:schemeClr val="accent2"/>
                </a:solidFill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260648" y="5889104"/>
              <a:ext cx="6336704" cy="0"/>
              <a:chOff x="260648" y="2432720"/>
              <a:chExt cx="6336704" cy="0"/>
            </a:xfrm>
          </p:grpSpPr>
          <p:cxnSp>
            <p:nvCxnSpPr>
              <p:cNvPr id="18" name="直接连接符 17"/>
              <p:cNvCxnSpPr/>
              <p:nvPr/>
            </p:nvCxnSpPr>
            <p:spPr>
              <a:xfrm>
                <a:off x="260648" y="2432720"/>
                <a:ext cx="633670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/>
              <p:cNvCxnSpPr/>
              <p:nvPr/>
            </p:nvCxnSpPr>
            <p:spPr>
              <a:xfrm>
                <a:off x="260648" y="2432720"/>
                <a:ext cx="1016044" cy="0"/>
              </a:xfrm>
              <a:prstGeom prst="line">
                <a:avLst/>
              </a:prstGeom>
              <a:ln w="41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" name="文本框 24"/>
          <p:cNvSpPr txBox="1"/>
          <p:nvPr/>
        </p:nvSpPr>
        <p:spPr>
          <a:xfrm>
            <a:off x="180975" y="3656965"/>
            <a:ext cx="5080000" cy="675640"/>
          </a:xfrm>
          <a:prstGeom prst="rect">
            <a:avLst/>
          </a:prstGeom>
        </p:spPr>
        <p:txBody>
          <a:bodyPr>
            <a:spAutoFit/>
          </a:bodyPr>
          <a:p>
            <a:pPr algn="l">
              <a:lnSpc>
                <a:spcPts val="1520"/>
              </a:lnSpc>
              <a:buClrTx/>
              <a:buSzTx/>
              <a:buNone/>
            </a:pPr>
            <a:r>
              <a:rPr lang="en-US" altLang="zh-CN" sz="8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性格乐观，善于沟通，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英文读写能力良好。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对技术保持高度热情，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学习能力强，善于快速掌握新知识并应用于实践。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热衷探索开源项目与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利用 AI 提升开发</a:t>
            </a:r>
            <a:r>
              <a:rPr lang="zh-CN" altLang="en-US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、办公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效率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，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积极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参与开源社区交流分享。业余爱好包括运动、骑行、社交、听音乐与羽毛球，</a:t>
            </a:r>
            <a:r>
              <a:rPr lang="en-US" altLang="zh-CN" sz="800" b="1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注重身心平衡与持续成长。乐于分享技术经验并与团队共同成长</a:t>
            </a:r>
            <a:r>
              <a:rPr lang="en-US" altLang="zh-CN" sz="800" dirty="0">
                <a:latin typeface="阿里巴巴普惠体 R" panose="00020600040101010101" pitchFamily="18" charset="-122"/>
                <a:ea typeface="阿里巴巴普惠体 R" panose="00020600040101010101" pitchFamily="18" charset="-122"/>
                <a:cs typeface="阿里巴巴普惠体 R" panose="00020600040101010101" pitchFamily="18" charset="-122"/>
              </a:rPr>
              <a:t>.</a:t>
            </a:r>
            <a:endParaRPr lang="en-US" altLang="zh-CN" sz="800" dirty="0">
              <a:latin typeface="阿里巴巴普惠体 R" panose="00020600040101010101" pitchFamily="18" charset="-122"/>
              <a:ea typeface="阿里巴巴普惠体 R" panose="00020600040101010101" pitchFamily="18" charset="-122"/>
              <a:cs typeface="阿里巴巴普惠体 R" panose="00020600040101010101" pitchFamily="18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E58A3"/>
      </a:accent1>
      <a:accent2>
        <a:srgbClr val="2673B7"/>
      </a:accent2>
      <a:accent3>
        <a:srgbClr val="92B6D0"/>
      </a:accent3>
      <a:accent4>
        <a:srgbClr val="4C7CA0"/>
      </a:accent4>
      <a:accent5>
        <a:srgbClr val="5E7A86"/>
      </a:accent5>
      <a:accent6>
        <a:srgbClr val="D9D9D9"/>
      </a:accent6>
      <a:hlink>
        <a:srgbClr val="0E58A3"/>
      </a:hlink>
      <a:folHlink>
        <a:srgbClr val="0E58A3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>
            <a:latin typeface="阿里巴巴普惠体 R" panose="00020600040101010101" pitchFamily="18" charset="-122"/>
            <a:ea typeface="阿里巴巴普惠体 R" panose="00020600040101010101" pitchFamily="18" charset="-122"/>
            <a:cs typeface="阿里巴巴普惠体 R" panose="00020600040101010101" pitchFamily="18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2110</Words>
  <Application>WPS 演示</Application>
  <PresentationFormat>A4 纸张(210x297 毫米)</PresentationFormat>
  <Paragraphs>76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8" baseType="lpstr">
      <vt:lpstr>Arial</vt:lpstr>
      <vt:lpstr>宋体</vt:lpstr>
      <vt:lpstr>Wingdings</vt:lpstr>
      <vt:lpstr>阿里巴巴普惠体 R</vt:lpstr>
      <vt:lpstr>华文宋体</vt:lpstr>
      <vt:lpstr>阿里巴巴普惠体 M</vt:lpstr>
      <vt:lpstr>阿里巴巴普惠体 M</vt:lpstr>
      <vt:lpstr>微软雅黑 Light</vt:lpstr>
      <vt:lpstr>Calibri</vt:lpstr>
      <vt:lpstr>Segoe Print</vt:lpstr>
      <vt:lpstr>等线</vt:lpstr>
      <vt:lpstr>微软雅黑</vt:lpstr>
      <vt:lpstr>Arial Unicode MS</vt:lpstr>
      <vt:lpstr>等线 Light</vt:lpstr>
      <vt:lpstr>Calibri Light</vt:lpstr>
      <vt:lpstr>Office 主题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senjay</dc:creator>
  <dc:description>senjay</dc:description>
  <cp:lastModifiedBy>A 追风浪子</cp:lastModifiedBy>
  <cp:revision>140</cp:revision>
  <dcterms:created xsi:type="dcterms:W3CDTF">2022-05-31T02:36:00Z</dcterms:created>
  <dcterms:modified xsi:type="dcterms:W3CDTF">2025-11-29T13:57:10Z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14B6A6392D23470E8AC4BA0233D09E05_12</vt:lpwstr>
  </property>
  <property fmtid="{D5CDD505-2E9C-101B-9397-08002B2CF9AE}" pid="3" name="KSOProductBuildVer">
    <vt:lpwstr>2052-12.1.0.23539</vt:lpwstr>
  </property>
</Properties>
</file>