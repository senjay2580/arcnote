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版权归senjay所有" id="{D2717A76-E87D-4B62-A5A5-ABF3951A7BBE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45" userDrawn="1">
          <p15:clr>
            <a:srgbClr val="A4A3A4"/>
          </p15:clr>
        </p15:guide>
        <p15:guide id="2" pos="2114" userDrawn="1">
          <p15:clr>
            <a:srgbClr val="A4A3A4"/>
          </p15:clr>
        </p15:guide>
        <p15:guide id="3" pos="4170" userDrawn="1">
          <p15:clr>
            <a:srgbClr val="A4A3A4"/>
          </p15:clr>
        </p15:guide>
        <p15:guide id="4" pos="1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89" autoAdjust="0"/>
    <p:restoredTop sz="94660"/>
  </p:normalViewPr>
  <p:slideViewPr>
    <p:cSldViewPr showGuides="1">
      <p:cViewPr>
        <p:scale>
          <a:sx n="125" d="100"/>
          <a:sy n="125" d="100"/>
        </p:scale>
        <p:origin x="1176" y="-2992"/>
      </p:cViewPr>
      <p:guideLst>
        <p:guide orient="horz" pos="3045"/>
        <p:guide pos="2114"/>
        <p:guide pos="4170"/>
        <p:guide pos="1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735" y="1143000"/>
            <a:ext cx="213653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5084763" y="0"/>
            <a:ext cx="1152525" cy="120808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github.com/senjay2580/ArcHat-server&#13;" TargetMode="Externa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/>
        </p:nvGrpSpPr>
        <p:grpSpPr>
          <a:xfrm>
            <a:off x="90805" y="1188085"/>
            <a:ext cx="6468745" cy="294518"/>
            <a:chOff x="142771" y="2118888"/>
            <a:chExt cx="6454581" cy="241824"/>
          </a:xfrm>
        </p:grpSpPr>
        <p:sp>
          <p:nvSpPr>
            <p:cNvPr id="7" name="文本框 6"/>
            <p:cNvSpPr txBox="1"/>
            <p:nvPr/>
          </p:nvSpPr>
          <p:spPr>
            <a:xfrm>
              <a:off x="142771" y="2118888"/>
              <a:ext cx="1160060" cy="207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solidFill>
                    <a:schemeClr val="accent2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教育背景</a:t>
              </a:r>
              <a:endParaRPr lang="zh-CN" altLang="en-US" sz="1050" b="1" dirty="0">
                <a:solidFill>
                  <a:schemeClr val="accent2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240568" y="2360712"/>
              <a:ext cx="6356784" cy="0"/>
              <a:chOff x="240568" y="2432720"/>
              <a:chExt cx="6356784" cy="0"/>
            </a:xfrm>
          </p:grpSpPr>
          <p:cxnSp>
            <p:nvCxnSpPr>
              <p:cNvPr id="29" name="直接连接符 28"/>
              <p:cNvCxnSpPr/>
              <p:nvPr/>
            </p:nvCxnSpPr>
            <p:spPr>
              <a:xfrm>
                <a:off x="260648" y="2432720"/>
                <a:ext cx="6336704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240568" y="2432720"/>
                <a:ext cx="1016044" cy="0"/>
              </a:xfrm>
              <a:prstGeom prst="line">
                <a:avLst/>
              </a:prstGeom>
              <a:ln w="41275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0" name="组合 69"/>
          <p:cNvGrpSpPr/>
          <p:nvPr/>
        </p:nvGrpSpPr>
        <p:grpSpPr>
          <a:xfrm>
            <a:off x="44450" y="37251"/>
            <a:ext cx="3556000" cy="982980"/>
            <a:chOff x="59075" y="289036"/>
            <a:chExt cx="3556000" cy="982980"/>
          </a:xfrm>
        </p:grpSpPr>
        <p:sp>
          <p:nvSpPr>
            <p:cNvPr id="5" name="文本框 4"/>
            <p:cNvSpPr txBox="1"/>
            <p:nvPr/>
          </p:nvSpPr>
          <p:spPr>
            <a:xfrm>
              <a:off x="59075" y="630666"/>
              <a:ext cx="3556000" cy="6413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50000"/>
                    </a:schemeClr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 </a:t>
              </a:r>
              <a:r>
                <a:rPr lang="en-US" altLang="zh-CN" sz="1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 </a:t>
              </a:r>
              <a:r>
                <a:rPr lang="en-US" altLang="zh-CN" sz="10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2005-06-21</a:t>
              </a:r>
              <a:endParaRPr lang="en-US" altLang="zh-CN" sz="1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endParaRPr lang="en-US" altLang="zh-CN" sz="1000" dirty="0">
                <a:solidFill>
                  <a:schemeClr val="accent6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zh-CN" altLang="en-US" sz="1000" dirty="0">
                  <a:solidFill>
                    <a:schemeClr val="accent6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000" dirty="0">
                  <a:solidFill>
                    <a:schemeClr val="accent6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</a:t>
              </a:r>
              <a:r>
                <a:rPr lang="en-US" altLang="zh-CN" sz="10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3381335358@qq.com  </a:t>
              </a:r>
              <a:r>
                <a:rPr lang="zh-CN" altLang="en-US" sz="10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📞</a:t>
              </a:r>
              <a:r>
                <a:rPr lang="en-US" altLang="zh-CN" sz="10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18750767579</a:t>
              </a:r>
              <a:endParaRPr lang="en-US" altLang="zh-CN" sz="1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endParaRPr lang="zh-CN" altLang="en-US" sz="1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1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</a:t>
              </a:r>
              <a:r>
                <a:rPr lang="en-US" altLang="zh-CN" sz="10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wwwsj21</a:t>
              </a:r>
              <a:endParaRPr lang="en-US" altLang="zh-CN" sz="1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3936" y="289036"/>
              <a:ext cx="116006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华文宋体" panose="02010600040101010101" pitchFamily="2" charset="-122"/>
                  <a:ea typeface="华文宋体" panose="02010600040101010101" pitchFamily="2" charset="-122"/>
                  <a:cs typeface="阿里巴巴普惠体 M" panose="00020600040101010101" pitchFamily="18" charset="-122"/>
                </a:rPr>
                <a:t>  </a:t>
              </a:r>
              <a:r>
                <a:rPr lang="zh-CN" altLang="en-US" sz="1600" b="1" dirty="0">
                  <a:latin typeface="华文宋体" panose="02010600040101010101" pitchFamily="2" charset="-122"/>
                  <a:ea typeface="华文宋体" panose="02010600040101010101" pitchFamily="2" charset="-122"/>
                  <a:cs typeface="阿里巴巴普惠体 M" panose="00020600040101010101" pitchFamily="18" charset="-122"/>
                </a:rPr>
                <a:t>吴生杰</a:t>
              </a:r>
              <a:endParaRPr lang="zh-CN" altLang="en-US" sz="1600" b="1" dirty="0">
                <a:latin typeface="华文宋体" panose="02010600040101010101" pitchFamily="2" charset="-122"/>
                <a:ea typeface="华文宋体" panose="02010600040101010101" pitchFamily="2" charset="-122"/>
                <a:cs typeface="阿里巴巴普惠体 M" panose="00020600040101010101" pitchFamily="18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49860" y="1480030"/>
            <a:ext cx="1330458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2023-09-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至今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83318" y="1498843"/>
            <a:ext cx="1261884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福建农林大学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10128" y="1486070"/>
            <a:ext cx="13131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专业:软件工程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8481" y="1633404"/>
            <a:ext cx="647181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专业成绩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 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GPA:3.4/4.0(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专业前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10%)</a:t>
            </a:r>
            <a:endParaRPr lang="en-US" altLang="zh-CN" sz="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主修课程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数据结构、软件项目管理、操作系统、计算机网络、</a:t>
            </a:r>
            <a:r>
              <a:rPr lang="en-US" altLang="zh-CN" sz="8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JavaWeb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应用开发、数据库系统概论、软件工程导论、企业级框架开发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个人荣誉：英语四级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536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分）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六级证书（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494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分）、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蓝桥杯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省二等奖</a:t>
            </a:r>
            <a:endParaRPr lang="en-US" altLang="zh-CN" sz="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519" y="12358"/>
            <a:ext cx="861876" cy="1208295"/>
          </a:xfrm>
          <a:prstGeom prst="rect">
            <a:avLst/>
          </a:prstGeom>
        </p:spPr>
      </p:pic>
      <p:grpSp>
        <p:nvGrpSpPr>
          <p:cNvPr id="62" name="组合 61"/>
          <p:cNvGrpSpPr/>
          <p:nvPr/>
        </p:nvGrpSpPr>
        <p:grpSpPr>
          <a:xfrm>
            <a:off x="90805" y="2287905"/>
            <a:ext cx="6428105" cy="282004"/>
            <a:chOff x="172266" y="5624643"/>
            <a:chExt cx="6425086" cy="264461"/>
          </a:xfrm>
        </p:grpSpPr>
        <p:sp>
          <p:nvSpPr>
            <p:cNvPr id="63" name="文本框 62"/>
            <p:cNvSpPr txBox="1"/>
            <p:nvPr/>
          </p:nvSpPr>
          <p:spPr>
            <a:xfrm>
              <a:off x="172266" y="5624643"/>
              <a:ext cx="1160060" cy="258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实习经历</a:t>
              </a:r>
              <a:endParaRPr lang="zh-CN" altLang="en-US" sz="1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260648" y="5889104"/>
              <a:ext cx="6336704" cy="0"/>
              <a:chOff x="260648" y="2432720"/>
              <a:chExt cx="6336704" cy="0"/>
            </a:xfrm>
          </p:grpSpPr>
          <p:cxnSp>
            <p:nvCxnSpPr>
              <p:cNvPr id="65" name="直接连接符 64"/>
              <p:cNvCxnSpPr/>
              <p:nvPr/>
            </p:nvCxnSpPr>
            <p:spPr>
              <a:xfrm>
                <a:off x="260648" y="2432720"/>
                <a:ext cx="6336704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260648" y="2432720"/>
                <a:ext cx="1016044" cy="0"/>
              </a:xfrm>
              <a:prstGeom prst="line">
                <a:avLst/>
              </a:prstGeom>
              <a:ln w="41275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" name="组合 98"/>
          <p:cNvGrpSpPr/>
          <p:nvPr/>
        </p:nvGrpSpPr>
        <p:grpSpPr>
          <a:xfrm>
            <a:off x="82441" y="6230220"/>
            <a:ext cx="6437151" cy="275590"/>
            <a:chOff x="160201" y="5643058"/>
            <a:chExt cx="6437151" cy="275590"/>
          </a:xfrm>
        </p:grpSpPr>
        <p:sp>
          <p:nvSpPr>
            <p:cNvPr id="100" name="文本框 99"/>
            <p:cNvSpPr txBox="1"/>
            <p:nvPr/>
          </p:nvSpPr>
          <p:spPr>
            <a:xfrm>
              <a:off x="160201" y="5643058"/>
              <a:ext cx="1160060" cy="27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项目经历</a:t>
              </a:r>
              <a:endParaRPr lang="zh-CN" altLang="en-US" sz="1050" b="1" dirty="0">
                <a:solidFill>
                  <a:schemeClr val="accent2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260648" y="5889104"/>
              <a:ext cx="6336704" cy="0"/>
              <a:chOff x="260648" y="2432720"/>
              <a:chExt cx="6336704" cy="0"/>
            </a:xfrm>
          </p:grpSpPr>
          <p:cxnSp>
            <p:nvCxnSpPr>
              <p:cNvPr id="102" name="直接连接符 101"/>
              <p:cNvCxnSpPr/>
              <p:nvPr/>
            </p:nvCxnSpPr>
            <p:spPr>
              <a:xfrm>
                <a:off x="260648" y="2432720"/>
                <a:ext cx="6336704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260648" y="2432720"/>
                <a:ext cx="1016044" cy="0"/>
              </a:xfrm>
              <a:prstGeom prst="line">
                <a:avLst/>
              </a:prstGeom>
              <a:ln w="41275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文本框 103"/>
          <p:cNvSpPr txBox="1"/>
          <p:nvPr/>
        </p:nvSpPr>
        <p:spPr>
          <a:xfrm>
            <a:off x="4645551" y="8401685"/>
            <a:ext cx="207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zh-CN" altLang="en-US" sz="1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-166312" y="8401685"/>
            <a:ext cx="1646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zh-CN" altLang="en-US" sz="1400" b="1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116840" y="6393180"/>
            <a:ext cx="6628130" cy="2924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200000"/>
              </a:lnSpc>
            </a:pPr>
            <a:r>
              <a:rPr lang="en-US" altLang="zh-CN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2025/5 – 2025/8</a:t>
            </a:r>
            <a:r>
              <a:rPr lang="en-US" altLang="zh-CN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				</a:t>
            </a:r>
            <a:endParaRPr lang="en-US" altLang="zh-CN" sz="800" b="1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    </a:t>
            </a:r>
            <a:endParaRPr lang="en-US" altLang="zh-CN" sz="800" b="1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ArcHat 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通讯协作平台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--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前后端开发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						</a:t>
            </a:r>
            <a:endParaRPr lang="en-US" altLang="zh-CN" sz="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520"/>
              </a:lnSpc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项目描述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一款仿飞书的企业级通讯与协作平台，集私聊、群聊与安全权限管理于一体，支持接口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多维限流、敏感词过滤、会话管理、消息实时推送、语音通话、以及智能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助手，旨在提升团队沟通效率与协作体验。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520"/>
              </a:lnSpc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核心技术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SpringBoot3, </a:t>
            </a:r>
            <a:r>
              <a:rPr lang="en-US" altLang="zh-CN" sz="8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MyBatis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Plus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Netty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WebRTC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RabbitMQ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Docker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Nginx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Redis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JWT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langchain4j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520"/>
              </a:lnSpc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核心职责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en-US" altLang="zh-CN" sz="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520"/>
              </a:lnSpc>
            </a:pP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消息推送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Netty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构建长连接服务，支持私聊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群聊消息的实时分发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。抽象消息处理器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基类，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520"/>
              </a:lnSpc>
            </a:pP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结合 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Spring 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容器注册机制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，支持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多种消息类型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（文本、图片、文件）动态分发与处理，利用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策略模式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高可扩展性。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520"/>
              </a:lnSpc>
            </a:pP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 Chat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集成：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 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Langchain4j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，集成到项目中开发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助手，实现多轮对话，记忆持久化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会话隔离，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RAG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知识库导入。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520"/>
              </a:lnSpc>
            </a:pP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性能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安全：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事件驱动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敏感词过滤机制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，实现群聊消息的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异步入库与推送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，确保内容合规同时显著提升接口性能。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520"/>
              </a:lnSpc>
            </a:pP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限流控制：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自定义注解实现高复用，结合 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AOP + </a:t>
            </a:r>
            <a:r>
              <a:rPr lang="en-US" altLang="zh-CN" sz="8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SpEL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，实现接口级限流防刷功能，支持用户、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IP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、接口维度灵活限流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520"/>
              </a:lnSpc>
            </a:pP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日志记录：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 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MDC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日志上下文机制，通过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Filter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统一生成 </a:t>
            </a:r>
            <a:r>
              <a:rPr lang="en-US" altLang="zh-CN" sz="8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traceId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，并结合 </a:t>
            </a:r>
            <a:r>
              <a:rPr lang="en-US" altLang="zh-CN" sz="8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ThreadLocal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MDC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注入线程上下文，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520"/>
              </a:lnSpc>
            </a:pP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全链路日志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自动携带 </a:t>
            </a:r>
            <a:r>
              <a:rPr lang="en-US" altLang="zh-CN" sz="8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traceId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追踪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 descr="IcBaselineWech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" y="1040765"/>
            <a:ext cx="147320" cy="147320"/>
          </a:xfrm>
          <a:prstGeom prst="rect">
            <a:avLst/>
          </a:prstGeom>
        </p:spPr>
      </p:pic>
      <p:pic>
        <p:nvPicPr>
          <p:cNvPr id="4" name="图片 3" descr="MaterialSymbolsAttachEma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" y="731520"/>
            <a:ext cx="143510" cy="143510"/>
          </a:xfrm>
          <a:prstGeom prst="rect">
            <a:avLst/>
          </a:prstGeom>
        </p:spPr>
      </p:pic>
      <p:pic>
        <p:nvPicPr>
          <p:cNvPr id="6" name="图片 5" descr="MdiGithu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" y="6681470"/>
            <a:ext cx="196850" cy="1968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07670" y="6681470"/>
            <a:ext cx="3650615" cy="19685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项目地址：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5" action="ppaction://hlinkfile"/>
              </a:rPr>
              <a:t>https://github.com/senjay2580/ArcHat-server</a:t>
            </a:r>
            <a:endParaRPr lang="en-US" altLang="zh-CN" sz="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hlinkClick r:id="rId5" action="ppaction://hlinkfile"/>
            </a:endParaRPr>
          </a:p>
          <a:p>
            <a:pPr algn="l"/>
            <a:endParaRPr lang="en-US" altLang="zh-CN" sz="8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0805" y="2504440"/>
            <a:ext cx="6296025" cy="263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4" algn="l">
              <a:lnSpc>
                <a:spcPct val="150000"/>
              </a:lnSpc>
              <a:buClrTx/>
              <a:buSzTx/>
              <a:buFontTx/>
            </a:pPr>
            <a:r>
              <a:rPr lang="zh-CN" altLang="en-US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福州琢木鸟信息科技有限公司</a:t>
            </a:r>
            <a:r>
              <a:rPr lang="en-US" altLang="zh-CN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	</a:t>
            </a:r>
            <a:r>
              <a:rPr lang="en-US" altLang="zh-CN" sz="8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		</a:t>
            </a:r>
            <a:r>
              <a:rPr lang="en-US" altLang="zh-CN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    </a:t>
            </a:r>
            <a:r>
              <a:rPr lang="zh-CN" altLang="en-US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2025/</a:t>
            </a:r>
            <a:r>
              <a:rPr lang="en-US" altLang="zh-CN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6</a:t>
            </a:r>
            <a:r>
              <a:rPr lang="zh-CN" altLang="en-US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 – 2025/</a:t>
            </a:r>
            <a:r>
              <a:rPr lang="en-US" altLang="zh-CN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8</a:t>
            </a:r>
            <a:r>
              <a:rPr lang="zh-CN" altLang="en-US" sz="8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				    </a:t>
            </a:r>
            <a:r>
              <a:rPr lang="zh-CN" altLang="en-US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后端开发实习生</a:t>
            </a:r>
            <a:endParaRPr lang="zh-CN" altLang="en-US" sz="800" b="1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6200" y="2720340"/>
            <a:ext cx="6544310" cy="1739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主要职责：负责社会福利院轮候审批流程、床位管理、统计分析等核心业务模块的后端开发与性能优化工作。</a:t>
            </a:r>
            <a:endParaRPr lang="zh-CN" altLang="en-US" sz="800" b="1" u="sng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endParaRPr lang="en-US" altLang="zh-CN" sz="8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针对入住户数据统计接口</a:t>
            </a:r>
            <a:r>
              <a:rPr lang="en-US" altLang="zh-CN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900ms </a:t>
            </a:r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的响应瓶颈，使用窗口函数替代关联子查询、</a:t>
            </a:r>
            <a:r>
              <a:rPr lang="en-US" altLang="zh-CN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UNION ALL</a:t>
            </a:r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替换递归</a:t>
            </a:r>
            <a:r>
              <a:rPr lang="en-US" altLang="zh-CN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CTE</a:t>
            </a:r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，并基于</a:t>
            </a:r>
            <a:r>
              <a:rPr lang="en-US" altLang="zh-CN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CompletableFuture+ </a:t>
            </a:r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自定义线程池实现</a:t>
            </a:r>
            <a:r>
              <a:rPr lang="en-US" altLang="zh-CN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4 </a:t>
            </a:r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个核心查询并行执行，最终接口</a:t>
            </a:r>
            <a:r>
              <a:rPr lang="zh-CN" altLang="en-US" sz="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响应降至</a:t>
            </a:r>
            <a:r>
              <a:rPr lang="en-US" altLang="zh-CN" sz="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9ms</a:t>
            </a:r>
            <a:r>
              <a:rPr lang="zh-CN" altLang="en-US" sz="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，性能提升超</a:t>
            </a:r>
            <a:r>
              <a:rPr lang="en-US" altLang="zh-CN" sz="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99%</a:t>
            </a:r>
            <a:r>
              <a:rPr lang="zh-CN" altLang="en-US" sz="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8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endParaRPr lang="en-US" altLang="zh-CN" sz="8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针对养老院集中审批期全局锁导致不同老人申请单阻塞、响应超时的问题，自研申请单</a:t>
            </a:r>
            <a:r>
              <a:rPr lang="en-US" altLang="zh-CN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ID </a:t>
            </a:r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级读写锁组件，通过</a:t>
            </a:r>
            <a:r>
              <a:rPr lang="en-US" altLang="zh-CN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ConcurrentHashMap</a:t>
            </a:r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管理独立锁、</a:t>
            </a:r>
            <a:r>
              <a:rPr lang="en-US" altLang="zh-CN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AtomicInteger</a:t>
            </a:r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实现锁动态释放，搭配</a:t>
            </a:r>
            <a:r>
              <a:rPr lang="en-US" altLang="zh-CN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tryLock()</a:t>
            </a:r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非阻塞获取锁机制。</a:t>
            </a:r>
            <a:endParaRPr lang="zh-CN" altLang="en-US" sz="8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endParaRPr lang="en-US" altLang="zh-CN" sz="8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优化养老院入住审批自研状态机，构建条件校验、业务动作、上下文传递三层架构，适配审批状态回滚、申请撤销、过期自动作废等养老院实</a:t>
            </a:r>
            <a:endParaRPr lang="zh-CN" altLang="en-US" sz="8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际审批场景，实现审批状态转换规则动态调整（无需重启服务），新增审批节点仅需配置规则即可上线，</a:t>
            </a:r>
            <a:r>
              <a:rPr lang="zh-CN" altLang="en-US" sz="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大幅降低养老院审批流程的维护成本。</a:t>
            </a:r>
            <a:endParaRPr lang="zh-CN" altLang="en-US" sz="8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endParaRPr lang="en-US" altLang="zh-CN" sz="8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</a:t>
            </a:r>
            <a:r>
              <a:rPr lang="en-US" altLang="zh-CN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RBAC </a:t>
            </a:r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模型搭建养老院多角色权限体系，实现接口级权限拦截与通配符路径匹配，通过缓存</a:t>
            </a:r>
            <a:r>
              <a:rPr lang="en-US" altLang="zh-CN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 </a:t>
            </a:r>
            <a:r>
              <a:rPr lang="zh-CN" altLang="en-US" sz="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事件监听实现权限热更新并留存操作审计日志，权限配置与代码解耦，</a:t>
            </a:r>
            <a:r>
              <a:rPr lang="zh-CN" altLang="en-US" sz="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新增权限无需重启服务。</a:t>
            </a:r>
            <a:endParaRPr lang="zh-CN" altLang="en-US" sz="8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800" b="1" dirty="0" smtClean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endParaRPr lang="en-US" altLang="zh-CN" sz="800" b="1" dirty="0" smtClean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algn="l">
              <a:buClrTx/>
              <a:buSzTx/>
              <a:buFontTx/>
            </a:pPr>
            <a:endParaRPr lang="en-US" altLang="zh-CN" sz="9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1" algn="l">
              <a:buClrTx/>
              <a:buSzTx/>
              <a:buFontTx/>
            </a:pPr>
            <a:endParaRPr lang="en-US" altLang="zh-CN" sz="9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/>
            <a:endParaRPr lang="zh-CN" altLang="en-US" sz="800" b="1" dirty="0" smtClean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840" y="4509770"/>
            <a:ext cx="6350635" cy="1637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福建新大陆软件工程有限公司</a:t>
            </a:r>
            <a:r>
              <a:rPr lang="en-US" altLang="zh-CN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			  2025/9 - 2025/12  			         </a:t>
            </a:r>
            <a:r>
              <a:rPr lang="zh-CN" altLang="en-US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软件初级开发工程师</a:t>
            </a:r>
            <a:endParaRPr lang="zh-CN" altLang="en-US" sz="800" b="1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  <a:sym typeface="+mn-ea"/>
            </a:endParaRPr>
          </a:p>
          <a:p>
            <a:pPr algn="l"/>
            <a:r>
              <a:rPr lang="en-US" altLang="zh-CN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	</a:t>
            </a:r>
            <a:r>
              <a:rPr lang="en-US" altLang="zh-CN" sz="8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		</a:t>
            </a:r>
            <a:r>
              <a:rPr lang="en-US" altLang="zh-CN" sz="8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  </a:t>
            </a:r>
            <a:r>
              <a:rPr lang="zh-CN" altLang="en-US" sz="8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				    </a:t>
            </a:r>
            <a:endParaRPr lang="en-US" altLang="zh-CN" sz="9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88595" y="4448810"/>
            <a:ext cx="63366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/>
        </p:nvSpPr>
        <p:spPr>
          <a:xfrm>
            <a:off x="60960" y="2533650"/>
            <a:ext cx="6807200" cy="1386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ts val="1880"/>
              </a:lnSpc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协作能力：了解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从需求分析到上线运维的完整项目生命周期，具备跨部门沟通与协同推进能力。</a:t>
            </a:r>
            <a:endParaRPr lang="en-US" altLang="zh-CN" sz="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ts val="1880"/>
              </a:lnSpc>
            </a:pP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AI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应用：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有使用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lanchain4j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将大模型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集成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到项目中的经验，熟练使用各种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AI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工具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 MCP server, 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工作流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编写优质提示词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提高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效率。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ts val="1880"/>
              </a:lnSpc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分布式与中间件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：了解 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Spring Cloud (</a:t>
            </a:r>
            <a:r>
              <a:rPr lang="en-US" altLang="zh-CN" sz="8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Nacos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Feign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Gateway)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RabbitMQ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8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kafka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Docker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等技术栈。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880"/>
              </a:lnSpc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项目部署：熟练</a:t>
            </a:r>
            <a:r>
              <a:rPr lang="en-US" altLang="zh-CN" sz="8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GitFlow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以及分支管理、基本命令，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掌握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Linux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常用命令，具备云服务器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/docker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部署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经验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880"/>
              </a:lnSpc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前端开发：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熟悉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HTML5/CSS3/Js/Ts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熟练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Vue2/3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React18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Element Plus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以及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AI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编程工具进行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组件化开发，具备独立实现设计稿的能力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880"/>
              </a:lnSpc>
            </a:pP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Java 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基础：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扎实的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Java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面向对象编程能力，熟练掌握集合、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IO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Stream API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880"/>
              </a:lnSpc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数据库：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熟练使用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MySQL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，掌握事务、索引及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SQL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性能优化；熟悉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Redis 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缓存机制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与常见问题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（穿透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击穿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雪崩）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解决方案。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880"/>
              </a:lnSpc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主流框架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：熟悉 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Spring Boot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Spring MVC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8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MyBatis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Plus 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具备工程化技术。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880"/>
              </a:lnSpc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计算机基础：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掌握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TCP/IP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HTTP/HTTPS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WebSocket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等协议，了解进程线程、并发控制等操作系统知识。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880"/>
              </a:lnSpc>
            </a:pPr>
            <a:endParaRPr lang="en-US" altLang="zh-CN" sz="8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algn="l">
              <a:lnSpc>
                <a:spcPts val="1880"/>
              </a:lnSpc>
              <a:buClrTx/>
              <a:buSzTx/>
              <a:buNone/>
            </a:pPr>
            <a:endParaRPr lang="zh-CN" altLang="en-US" sz="800" b="1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28575" y="2216150"/>
            <a:ext cx="6407785" cy="275590"/>
            <a:chOff x="172266" y="5624643"/>
            <a:chExt cx="6425086" cy="273929"/>
          </a:xfrm>
        </p:grpSpPr>
        <p:sp>
          <p:nvSpPr>
            <p:cNvPr id="63" name="文本框 62"/>
            <p:cNvSpPr txBox="1"/>
            <p:nvPr/>
          </p:nvSpPr>
          <p:spPr>
            <a:xfrm>
              <a:off x="172266" y="5624643"/>
              <a:ext cx="1160060" cy="273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专业技能</a:t>
              </a:r>
              <a:endParaRPr lang="zh-CN" altLang="en-US" sz="1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260648" y="5889104"/>
              <a:ext cx="6336704" cy="0"/>
              <a:chOff x="260648" y="2432720"/>
              <a:chExt cx="6336704" cy="0"/>
            </a:xfrm>
          </p:grpSpPr>
          <p:cxnSp>
            <p:nvCxnSpPr>
              <p:cNvPr id="65" name="直接连接符 64"/>
              <p:cNvCxnSpPr/>
              <p:nvPr/>
            </p:nvCxnSpPr>
            <p:spPr>
              <a:xfrm>
                <a:off x="260648" y="2432720"/>
                <a:ext cx="6336704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260648" y="2432720"/>
                <a:ext cx="1016044" cy="0"/>
              </a:xfrm>
              <a:prstGeom prst="line">
                <a:avLst/>
              </a:prstGeom>
              <a:ln w="41275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3"/>
          <p:cNvGrpSpPr/>
          <p:nvPr/>
        </p:nvGrpSpPr>
        <p:grpSpPr>
          <a:xfrm>
            <a:off x="92710" y="5132069"/>
            <a:ext cx="6375400" cy="259716"/>
            <a:chOff x="204738" y="5630954"/>
            <a:chExt cx="6392614" cy="258150"/>
          </a:xfrm>
        </p:grpSpPr>
        <p:sp>
          <p:nvSpPr>
            <p:cNvPr id="15" name="文本框 14"/>
            <p:cNvSpPr txBox="1"/>
            <p:nvPr/>
          </p:nvSpPr>
          <p:spPr>
            <a:xfrm>
              <a:off x="204738" y="5630954"/>
              <a:ext cx="1160060" cy="251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solidFill>
                    <a:schemeClr val="accent2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自我</a:t>
              </a:r>
              <a:r>
                <a:rPr lang="zh-CN" altLang="en-US" sz="1050" b="1" dirty="0">
                  <a:solidFill>
                    <a:schemeClr val="accent2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评价</a:t>
              </a:r>
              <a:endParaRPr lang="zh-CN" altLang="en-US" sz="1050" b="1" dirty="0">
                <a:solidFill>
                  <a:schemeClr val="accent2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260648" y="5889104"/>
              <a:ext cx="6336704" cy="0"/>
              <a:chOff x="260648" y="2432720"/>
              <a:chExt cx="6336704" cy="0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260648" y="2432720"/>
                <a:ext cx="6336704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260648" y="2432720"/>
                <a:ext cx="1016044" cy="0"/>
              </a:xfrm>
              <a:prstGeom prst="line">
                <a:avLst/>
              </a:prstGeom>
              <a:ln w="41275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" name="文本框 24"/>
          <p:cNvSpPr txBox="1"/>
          <p:nvPr/>
        </p:nvSpPr>
        <p:spPr>
          <a:xfrm>
            <a:off x="92710" y="5456555"/>
            <a:ext cx="5080000" cy="814705"/>
          </a:xfrm>
          <a:prstGeom prst="rect">
            <a:avLst/>
          </a:prstGeom>
        </p:spPr>
        <p:txBody>
          <a:bodyPr>
            <a:spAutoFit/>
          </a:bodyPr>
          <a:p>
            <a:pPr algn="l">
              <a:lnSpc>
                <a:spcPts val="1880"/>
              </a:lnSpc>
              <a:buClrTx/>
              <a:buSzTx/>
              <a:buFontTx/>
              <a:buNone/>
            </a:pPr>
            <a:r>
              <a:rPr lang="zh-CN" altLang="en-US" sz="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性格乐观，善于沟通，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英文读写能力良好。对技术保持高度热情，学习能力强，善于快速掌握新知识并应用于实践。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热衷探索开源项目与利用 AI 提升开发、办公效率，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积极参与开源社区交流分享。业余爱好包括运动、骑行、社交、听音乐与羽毛球，注重身心平衡与持续成长。乐于分享技术经验并与团队共同成长.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" y="128270"/>
            <a:ext cx="6591300" cy="2040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20"/>
              </a:lnSpc>
            </a:pPr>
            <a:r>
              <a:rPr lang="en-US" altLang="zh-CN" sz="8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2024/9 – 2025/1</a:t>
            </a:r>
            <a:endParaRPr lang="en-US" altLang="zh-CN" sz="8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>
              <a:lnSpc>
                <a:spcPts val="1520"/>
              </a:lnSpc>
            </a:pPr>
            <a:r>
              <a:rPr lang="en-US" altLang="zh-CN" sz="800" b="1" dirty="0" err="1">
                <a:ea typeface="阿里巴巴普惠体 M" panose="00020600040101010101"/>
              </a:rPr>
              <a:t>ArcLearn</a:t>
            </a:r>
            <a:r>
              <a:rPr lang="en-US" altLang="zh-CN" sz="800" b="1" dirty="0">
                <a:ea typeface="阿里巴巴普惠体 M" panose="00020600040101010101"/>
              </a:rPr>
              <a:t> </a:t>
            </a:r>
            <a:r>
              <a:rPr lang="zh-CN" altLang="en-US" sz="800" b="1" dirty="0">
                <a:ea typeface="阿里巴巴普惠体 M" panose="00020600040101010101"/>
              </a:rPr>
              <a:t>社区</a:t>
            </a:r>
            <a:r>
              <a:rPr lang="en-US" altLang="zh-CN" sz="800" b="1" dirty="0">
                <a:ea typeface="阿里巴巴普惠体 M" panose="00020600040101010101"/>
              </a:rPr>
              <a:t>—</a:t>
            </a:r>
            <a:r>
              <a:rPr lang="zh-CN" altLang="en-US" sz="800" b="1" dirty="0">
                <a:ea typeface="阿里巴巴普惠体 M" panose="00020600040101010101"/>
              </a:rPr>
              <a:t>后端开发</a:t>
            </a:r>
            <a:endParaRPr lang="en-US" altLang="zh-CN" sz="800" b="1" dirty="0">
              <a:ea typeface="阿里巴巴普惠体 M" panose="00020600040101010101"/>
            </a:endParaRPr>
          </a:p>
          <a:p>
            <a:pPr algn="l">
              <a:lnSpc>
                <a:spcPts val="1520"/>
              </a:lnSpc>
              <a:buClrTx/>
              <a:buSzTx/>
              <a:buNone/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项目描述: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一款面向开发者的技术交流平台，支持Markdown 富文本文章的发布、评论互动、用户签到、行为统计等功能，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520"/>
              </a:lnSpc>
              <a:buClrTx/>
              <a:buSzTx/>
              <a:buNone/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核心技术: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SpringBoot , MyBatis , Redis, RabbitMQ, JWT, Nginx,阿里云Oss, Vue3,ElementUl Plus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520"/>
              </a:lnSpc>
              <a:buClrTx/>
              <a:buSzTx/>
              <a:buNone/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核心职责:</a:t>
            </a:r>
            <a:endParaRPr lang="zh-CN" altLang="en-US" sz="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l">
              <a:lnSpc>
                <a:spcPts val="1520"/>
              </a:lnSpc>
              <a:buClrTx/>
              <a:buSzTx/>
              <a:buNone/>
            </a:pP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异步解耦：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构建基于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RabbitMQ 的事件驱动架构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，将文章发布、评论提醒、系统通知等任务异步化，提高系统响应速度与可扩展性。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l">
              <a:lnSpc>
                <a:spcPts val="1520"/>
              </a:lnSpc>
              <a:buClrTx/>
              <a:buSzTx/>
              <a:buNone/>
            </a:pP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缓存优化：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 Redis 缓存热点数据，结合布隆过滤器与互斥锁，有效防止缓存击穿/穿透问题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l">
              <a:lnSpc>
                <a:spcPts val="1520"/>
              </a:lnSpc>
              <a:buClrTx/>
              <a:buSzTx/>
              <a:buNone/>
            </a:pP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架构设计：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基于SpringBoot+MyBatis实现高效数据持久化，利用AOP 切面编程统一日志采集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l">
              <a:lnSpc>
                <a:spcPts val="1520"/>
              </a:lnSpc>
              <a:buClrTx/>
              <a:buSzTx/>
              <a:buNone/>
            </a:pP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安全认证:</a:t>
            </a:r>
            <a:r>
              <a:rPr lang="en-US" altLang="zh-CN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JWT无状态令牌实现鉴权,优化用户体验并保障接口安全。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l">
              <a:lnSpc>
                <a:spcPts val="1520"/>
              </a:lnSpc>
              <a:buClrTx/>
              <a:buSzTx/>
              <a:buNone/>
            </a:pPr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用户统计：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利用 HyperLogLog 统计独立访客（UV），结合Bitmap 记录用户签到行为，实现社区活跃度分析与数据可视化。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16848" y="200142"/>
            <a:ext cx="6427236" cy="0"/>
          </a:xfrm>
          <a:prstGeom prst="line">
            <a:avLst/>
          </a:prstGeom>
          <a:ln w="95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E58A3"/>
      </a:accent1>
      <a:accent2>
        <a:srgbClr val="2673B7"/>
      </a:accent2>
      <a:accent3>
        <a:srgbClr val="92B6D0"/>
      </a:accent3>
      <a:accent4>
        <a:srgbClr val="4C7CA0"/>
      </a:accent4>
      <a:accent5>
        <a:srgbClr val="5E7A86"/>
      </a:accent5>
      <a:accent6>
        <a:srgbClr val="D9D9D9"/>
      </a:accent6>
      <a:hlink>
        <a:srgbClr val="0E58A3"/>
      </a:hlink>
      <a:folHlink>
        <a:srgbClr val="0E58A3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>
            <a:latin typeface="阿里巴巴普惠体 R" panose="00020600040101010101" pitchFamily="18" charset="-122"/>
            <a:ea typeface="阿里巴巴普惠体 R" panose="00020600040101010101" pitchFamily="18" charset="-122"/>
            <a:cs typeface="阿里巴巴普惠体 R" panose="00020600040101010101" pitchFamily="18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2678</Words>
  <Application>WPS 演示</Application>
  <PresentationFormat>A4 纸张(210x297 毫米)</PresentationFormat>
  <Paragraphs>90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8" baseType="lpstr">
      <vt:lpstr>Arial</vt:lpstr>
      <vt:lpstr>宋体</vt:lpstr>
      <vt:lpstr>Wingdings</vt:lpstr>
      <vt:lpstr>阿里巴巴普惠体 R</vt:lpstr>
      <vt:lpstr>华文宋体</vt:lpstr>
      <vt:lpstr>阿里巴巴普惠体 M</vt:lpstr>
      <vt:lpstr>阿里巴巴普惠体 M</vt:lpstr>
      <vt:lpstr>Calibri</vt:lpstr>
      <vt:lpstr>Segoe Print</vt:lpstr>
      <vt:lpstr>微软雅黑</vt:lpstr>
      <vt:lpstr>Arial Unicode MS</vt:lpstr>
      <vt:lpstr>等线 Light</vt:lpstr>
      <vt:lpstr>Calibri Light</vt:lpstr>
      <vt:lpstr>等线</vt:lpstr>
      <vt:lpstr>黑体</vt:lpstr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senjay</dc:creator>
  <dc:description>senjay</dc:description>
  <cp:lastModifiedBy>A 追风浪子</cp:lastModifiedBy>
  <cp:revision>143</cp:revision>
  <dcterms:created xsi:type="dcterms:W3CDTF">2022-05-31T02:36:00Z</dcterms:created>
  <dcterms:modified xsi:type="dcterms:W3CDTF">2025-12-07T16:19:22Z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14B6A6392D23470E8AC4BA0233D09E05_12</vt:lpwstr>
  </property>
  <property fmtid="{D5CDD505-2E9C-101B-9397-08002B2CF9AE}" pid="3" name="KSOProductBuildVer">
    <vt:lpwstr>2052-12.1.0.23539</vt:lpwstr>
  </property>
</Properties>
</file>